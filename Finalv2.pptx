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embeddedFontLst>
    <p:embeddedFont>
      <p:font typeface="Robot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35AC3EC-20AF-410C-8CD3-5C9876ED8A75}">
  <a:tblStyle styleId="{A35AC3EC-20AF-410C-8CD3-5C9876ED8A7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oboto-bold.fntdata"/><Relationship Id="rId25" Type="http://schemas.openxmlformats.org/officeDocument/2006/relationships/font" Target="fonts/Roboto-regular.fntdata"/><Relationship Id="rId28" Type="http://schemas.openxmlformats.org/officeDocument/2006/relationships/font" Target="fonts/Roboto-boldItalic.fntdata"/><Relationship Id="rId27" Type="http://schemas.openxmlformats.org/officeDocument/2006/relationships/font" Target="fonts/Robot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4cb4d2e0d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4cb4d2e0d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4cb4d2e0d2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4cb4d2e0d2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4cb4d2e0d2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4cb4d2e0d2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4cb4d2e0d2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4cb4d2e0d2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4cb4d2e0d2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4cb4d2e0d2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4cb4d2e0d2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4cb4d2e0d2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4cb4d2e0d2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4cb4d2e0d2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4cb4d2e0d2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4cb4d2e0d2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4cb4d2e0d2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4cb4d2e0d2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4d94b04cb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4d94b04cb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4cb4d2e0d2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4cb4d2e0d2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4cb4d2e0d2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4cb4d2e0d2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503e9f0a2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503e9f0a2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4cb4d2e0d2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4cb4d2e0d2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4cb4d2e0d2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4cb4d2e0d2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4e3ca57ca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4e3ca57ca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4cb4d2e0d2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4cb4d2e0d2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10.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 Id="rId3" Type="http://schemas.openxmlformats.org/officeDocument/2006/relationships/image" Target="../media/image1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Titanic: Learning From </a:t>
            </a:r>
            <a:r>
              <a:rPr lang="en"/>
              <a:t>Disaster</a:t>
            </a:r>
            <a:endParaRPr/>
          </a:p>
        </p:txBody>
      </p:sp>
      <p:sp>
        <p:nvSpPr>
          <p:cNvPr id="86" name="Google Shape;86;p13"/>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By Keaton LaBorde &amp; Michael Maxwell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Agenda</a:t>
            </a:r>
            <a:endParaRPr/>
          </a:p>
        </p:txBody>
      </p:sp>
      <p:sp>
        <p:nvSpPr>
          <p:cNvPr id="92" name="Google Shape;92;p14"/>
          <p:cNvSpPr txBox="1"/>
          <p:nvPr>
            <p:ph idx="1" type="body"/>
          </p:nvPr>
        </p:nvSpPr>
        <p:spPr>
          <a:xfrm>
            <a:off x="311700" y="1229875"/>
            <a:ext cx="3670500" cy="3339000"/>
          </a:xfrm>
          <a:prstGeom prst="rect">
            <a:avLst/>
          </a:prstGeom>
        </p:spPr>
        <p:txBody>
          <a:bodyPr anchorCtr="0" anchor="t" bIns="91425" lIns="91425" spcFirstLastPara="1" rIns="91425" wrap="square" tIns="91425">
            <a:normAutofit lnSpcReduction="10000"/>
          </a:bodyPr>
          <a:lstStyle/>
          <a:p>
            <a:pPr indent="0" lvl="0" marL="0" rtl="0" algn="l">
              <a:lnSpc>
                <a:spcPct val="90000"/>
              </a:lnSpc>
              <a:spcBef>
                <a:spcPts val="1000"/>
              </a:spcBef>
              <a:spcAft>
                <a:spcPts val="0"/>
              </a:spcAft>
              <a:buNone/>
            </a:pPr>
            <a:r>
              <a:rPr lang="en" sz="2200">
                <a:solidFill>
                  <a:srgbClr val="000000"/>
                </a:solidFill>
                <a:latin typeface="Arial"/>
                <a:ea typeface="Arial"/>
                <a:cs typeface="Arial"/>
                <a:sym typeface="Arial"/>
              </a:rPr>
              <a:t>•What is the Titanic Kaggle Dataset?</a:t>
            </a:r>
            <a:endParaRPr sz="2200">
              <a:solidFill>
                <a:srgbClr val="000000"/>
              </a:solidFill>
              <a:latin typeface="Arial"/>
              <a:ea typeface="Arial"/>
              <a:cs typeface="Arial"/>
              <a:sym typeface="Arial"/>
            </a:endParaRPr>
          </a:p>
          <a:p>
            <a:pPr indent="0" lvl="0" marL="0" rtl="0" algn="l">
              <a:lnSpc>
                <a:spcPct val="90000"/>
              </a:lnSpc>
              <a:spcBef>
                <a:spcPts val="1000"/>
              </a:spcBef>
              <a:spcAft>
                <a:spcPts val="0"/>
              </a:spcAft>
              <a:buNone/>
            </a:pPr>
            <a:r>
              <a:rPr lang="en" sz="2200">
                <a:solidFill>
                  <a:srgbClr val="000000"/>
                </a:solidFill>
                <a:latin typeface="Arial"/>
                <a:ea typeface="Arial"/>
                <a:cs typeface="Arial"/>
                <a:sym typeface="Arial"/>
              </a:rPr>
              <a:t>•Milestones and how we worked together</a:t>
            </a:r>
            <a:endParaRPr sz="2200">
              <a:solidFill>
                <a:srgbClr val="000000"/>
              </a:solidFill>
              <a:latin typeface="Arial"/>
              <a:ea typeface="Arial"/>
              <a:cs typeface="Arial"/>
              <a:sym typeface="Arial"/>
            </a:endParaRPr>
          </a:p>
          <a:p>
            <a:pPr indent="0" lvl="0" marL="0" rtl="0" algn="l">
              <a:lnSpc>
                <a:spcPct val="90000"/>
              </a:lnSpc>
              <a:spcBef>
                <a:spcPts val="1000"/>
              </a:spcBef>
              <a:spcAft>
                <a:spcPts val="0"/>
              </a:spcAft>
              <a:buNone/>
            </a:pPr>
            <a:r>
              <a:rPr lang="en" sz="2200">
                <a:solidFill>
                  <a:srgbClr val="000000"/>
                </a:solidFill>
                <a:latin typeface="Arial"/>
                <a:ea typeface="Arial"/>
                <a:cs typeface="Arial"/>
                <a:sym typeface="Arial"/>
              </a:rPr>
              <a:t>•What is our data?</a:t>
            </a:r>
            <a:endParaRPr sz="2200">
              <a:solidFill>
                <a:srgbClr val="000000"/>
              </a:solidFill>
              <a:latin typeface="Arial"/>
              <a:ea typeface="Arial"/>
              <a:cs typeface="Arial"/>
              <a:sym typeface="Arial"/>
            </a:endParaRPr>
          </a:p>
          <a:p>
            <a:pPr indent="0" lvl="0" marL="0" rtl="0" algn="l">
              <a:lnSpc>
                <a:spcPct val="90000"/>
              </a:lnSpc>
              <a:spcBef>
                <a:spcPts val="1000"/>
              </a:spcBef>
              <a:spcAft>
                <a:spcPts val="0"/>
              </a:spcAft>
              <a:buNone/>
            </a:pPr>
            <a:r>
              <a:rPr lang="en" sz="2200">
                <a:solidFill>
                  <a:srgbClr val="000000"/>
                </a:solidFill>
                <a:latin typeface="Arial"/>
                <a:ea typeface="Arial"/>
                <a:cs typeface="Arial"/>
                <a:sym typeface="Arial"/>
              </a:rPr>
              <a:t>•Initial Analysis</a:t>
            </a:r>
            <a:endParaRPr sz="2200">
              <a:solidFill>
                <a:srgbClr val="000000"/>
              </a:solidFill>
              <a:latin typeface="Arial"/>
              <a:ea typeface="Arial"/>
              <a:cs typeface="Arial"/>
              <a:sym typeface="Arial"/>
            </a:endParaRPr>
          </a:p>
          <a:p>
            <a:pPr indent="0" lvl="0" marL="0" rtl="0" algn="l">
              <a:lnSpc>
                <a:spcPct val="90000"/>
              </a:lnSpc>
              <a:spcBef>
                <a:spcPts val="1000"/>
              </a:spcBef>
              <a:spcAft>
                <a:spcPts val="0"/>
              </a:spcAft>
              <a:buNone/>
            </a:pPr>
            <a:r>
              <a:rPr lang="en" sz="2200">
                <a:solidFill>
                  <a:srgbClr val="000000"/>
                </a:solidFill>
                <a:latin typeface="Arial"/>
                <a:ea typeface="Arial"/>
                <a:cs typeface="Arial"/>
                <a:sym typeface="Arial"/>
              </a:rPr>
              <a:t>•Technical Approach</a:t>
            </a:r>
            <a:endParaRPr sz="2200">
              <a:solidFill>
                <a:srgbClr val="000000"/>
              </a:solidFill>
              <a:latin typeface="Arial"/>
              <a:ea typeface="Arial"/>
              <a:cs typeface="Arial"/>
              <a:sym typeface="Arial"/>
            </a:endParaRPr>
          </a:p>
          <a:p>
            <a:pPr indent="0" lvl="0" marL="0" rtl="0" algn="l">
              <a:lnSpc>
                <a:spcPct val="90000"/>
              </a:lnSpc>
              <a:spcBef>
                <a:spcPts val="1000"/>
              </a:spcBef>
              <a:spcAft>
                <a:spcPts val="0"/>
              </a:spcAft>
              <a:buNone/>
            </a:pPr>
            <a:r>
              <a:rPr lang="en" sz="2200">
                <a:solidFill>
                  <a:srgbClr val="000000"/>
                </a:solidFill>
                <a:latin typeface="Arial"/>
                <a:ea typeface="Arial"/>
                <a:cs typeface="Arial"/>
                <a:sym typeface="Arial"/>
              </a:rPr>
              <a:t>•Results</a:t>
            </a:r>
            <a:endParaRPr/>
          </a:p>
        </p:txBody>
      </p:sp>
      <p:pic>
        <p:nvPicPr>
          <p:cNvPr id="93" name="Google Shape;93;p14"/>
          <p:cNvPicPr preferRelativeResize="0"/>
          <p:nvPr/>
        </p:nvPicPr>
        <p:blipFill>
          <a:blip r:embed="rId3">
            <a:alphaModFix/>
          </a:blip>
          <a:stretch>
            <a:fillRect/>
          </a:stretch>
        </p:blipFill>
        <p:spPr>
          <a:xfrm>
            <a:off x="3982206" y="0"/>
            <a:ext cx="5161788"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265500" y="1151100"/>
            <a:ext cx="4045200" cy="15645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Background</a:t>
            </a:r>
            <a:endParaRPr/>
          </a:p>
        </p:txBody>
      </p:sp>
      <p:sp>
        <p:nvSpPr>
          <p:cNvPr id="99" name="Google Shape;99;p15"/>
          <p:cNvSpPr txBox="1"/>
          <p:nvPr>
            <p:ph idx="1" type="subTitle"/>
          </p:nvPr>
        </p:nvSpPr>
        <p:spPr>
          <a:xfrm>
            <a:off x="265500" y="2769001"/>
            <a:ext cx="4045200" cy="1269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General Information</a:t>
            </a:r>
            <a:endParaRPr/>
          </a:p>
        </p:txBody>
      </p:sp>
      <p:sp>
        <p:nvSpPr>
          <p:cNvPr id="100" name="Google Shape;100;p15"/>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0" lvl="0" marL="0" rtl="0" algn="l">
              <a:spcBef>
                <a:spcPts val="0"/>
              </a:spcBef>
              <a:spcAft>
                <a:spcPts val="1200"/>
              </a:spcAft>
              <a:buNone/>
            </a:pPr>
            <a:r>
              <a:t/>
            </a:r>
            <a:endParaRPr/>
          </a:p>
        </p:txBody>
      </p:sp>
      <p:pic>
        <p:nvPicPr>
          <p:cNvPr id="101" name="Google Shape;101;p15"/>
          <p:cNvPicPr preferRelativeResize="0"/>
          <p:nvPr/>
        </p:nvPicPr>
        <p:blipFill>
          <a:blip r:embed="rId3">
            <a:alphaModFix/>
          </a:blip>
          <a:stretch>
            <a:fillRect/>
          </a:stretch>
        </p:blipFill>
        <p:spPr>
          <a:xfrm>
            <a:off x="4755750" y="1180069"/>
            <a:ext cx="4204500" cy="278336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6"/>
          <p:cNvSpPr txBox="1"/>
          <p:nvPr>
            <p:ph type="title"/>
          </p:nvPr>
        </p:nvSpPr>
        <p:spPr>
          <a:xfrm>
            <a:off x="5117975" y="320625"/>
            <a:ext cx="3391500" cy="1052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the Kaggle Dataset</a:t>
            </a:r>
            <a:endParaRPr/>
          </a:p>
        </p:txBody>
      </p:sp>
      <p:sp>
        <p:nvSpPr>
          <p:cNvPr id="107" name="Google Shape;107;p16"/>
          <p:cNvSpPr txBox="1"/>
          <p:nvPr>
            <p:ph idx="1" type="body"/>
          </p:nvPr>
        </p:nvSpPr>
        <p:spPr>
          <a:xfrm>
            <a:off x="5239175" y="1353750"/>
            <a:ext cx="3149100" cy="2436000"/>
          </a:xfrm>
          <a:prstGeom prst="rect">
            <a:avLst/>
          </a:prstGeom>
        </p:spPr>
        <p:txBody>
          <a:bodyPr anchorCtr="0" anchor="t" bIns="91425" lIns="91425" spcFirstLastPara="1" rIns="91425" wrap="square" tIns="91425">
            <a:normAutofit lnSpcReduction="10000"/>
          </a:bodyPr>
          <a:lstStyle/>
          <a:p>
            <a:pPr indent="0" lvl="0" marL="0" rtl="0" algn="l">
              <a:lnSpc>
                <a:spcPct val="90000"/>
              </a:lnSpc>
              <a:spcBef>
                <a:spcPts val="1000"/>
              </a:spcBef>
              <a:spcAft>
                <a:spcPts val="0"/>
              </a:spcAft>
              <a:buNone/>
            </a:pPr>
            <a:r>
              <a:rPr lang="en" sz="2000">
                <a:solidFill>
                  <a:srgbClr val="000000"/>
                </a:solidFill>
                <a:latin typeface="Arial"/>
                <a:ea typeface="Arial"/>
                <a:cs typeface="Arial"/>
                <a:sym typeface="Arial"/>
              </a:rPr>
              <a:t>•Based off the Titanic Survivor Records</a:t>
            </a:r>
            <a:endParaRPr sz="2000">
              <a:solidFill>
                <a:srgbClr val="000000"/>
              </a:solidFill>
              <a:latin typeface="Arial"/>
              <a:ea typeface="Arial"/>
              <a:cs typeface="Arial"/>
              <a:sym typeface="Arial"/>
            </a:endParaRPr>
          </a:p>
          <a:p>
            <a:pPr indent="0" lvl="0" marL="0" rtl="0" algn="l">
              <a:lnSpc>
                <a:spcPct val="90000"/>
              </a:lnSpc>
              <a:spcBef>
                <a:spcPts val="1000"/>
              </a:spcBef>
              <a:spcAft>
                <a:spcPts val="0"/>
              </a:spcAft>
              <a:buNone/>
            </a:pPr>
            <a:r>
              <a:rPr lang="en" sz="2000">
                <a:solidFill>
                  <a:srgbClr val="000000"/>
                </a:solidFill>
                <a:latin typeface="Arial"/>
                <a:ea typeface="Arial"/>
                <a:cs typeface="Arial"/>
                <a:sym typeface="Arial"/>
              </a:rPr>
              <a:t>•Titanic Manifest (people who were present)</a:t>
            </a:r>
            <a:endParaRPr sz="2000">
              <a:solidFill>
                <a:srgbClr val="000000"/>
              </a:solidFill>
              <a:latin typeface="Arial"/>
              <a:ea typeface="Arial"/>
              <a:cs typeface="Arial"/>
              <a:sym typeface="Arial"/>
            </a:endParaRPr>
          </a:p>
          <a:p>
            <a:pPr indent="0" lvl="0" marL="12700" rtl="0" algn="l">
              <a:lnSpc>
                <a:spcPct val="90000"/>
              </a:lnSpc>
              <a:spcBef>
                <a:spcPts val="500"/>
              </a:spcBef>
              <a:spcAft>
                <a:spcPts val="0"/>
              </a:spcAft>
              <a:buNone/>
            </a:pPr>
            <a:r>
              <a:rPr lang="en" sz="2000">
                <a:solidFill>
                  <a:srgbClr val="000000"/>
                </a:solidFill>
                <a:latin typeface="Arial"/>
                <a:ea typeface="Arial"/>
                <a:cs typeface="Arial"/>
                <a:sym typeface="Arial"/>
              </a:rPr>
              <a:t>•Records who survived and individual information</a:t>
            </a:r>
            <a:endParaRPr sz="2000">
              <a:solidFill>
                <a:srgbClr val="000000"/>
              </a:solidFill>
              <a:latin typeface="Arial"/>
              <a:ea typeface="Arial"/>
              <a:cs typeface="Arial"/>
              <a:sym typeface="Arial"/>
            </a:endParaRPr>
          </a:p>
          <a:p>
            <a:pPr indent="0" lvl="0" marL="0" rtl="0" algn="l">
              <a:spcBef>
                <a:spcPts val="0"/>
              </a:spcBef>
              <a:spcAft>
                <a:spcPts val="1200"/>
              </a:spcAft>
              <a:buNone/>
            </a:pPr>
            <a:r>
              <a:t/>
            </a:r>
            <a:endParaRPr/>
          </a:p>
        </p:txBody>
      </p:sp>
      <p:pic>
        <p:nvPicPr>
          <p:cNvPr id="108" name="Google Shape;108;p16"/>
          <p:cNvPicPr preferRelativeResize="0"/>
          <p:nvPr/>
        </p:nvPicPr>
        <p:blipFill>
          <a:blip r:embed="rId3">
            <a:alphaModFix/>
          </a:blip>
          <a:stretch>
            <a:fillRect/>
          </a:stretch>
        </p:blipFill>
        <p:spPr>
          <a:xfrm>
            <a:off x="284051" y="97025"/>
            <a:ext cx="4712717" cy="47019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Milestones</a:t>
            </a:r>
            <a:endParaRPr/>
          </a:p>
        </p:txBody>
      </p:sp>
      <p:pic>
        <p:nvPicPr>
          <p:cNvPr descr="Railroad track with stations map, railway route for train. Colorful railway timeline with district location area, rail track direction with map point. Industrial maze infographic. Vector illustration (Provided by Getty Images)" id="114" name="Google Shape;114;p17"/>
          <p:cNvPicPr preferRelativeResize="0"/>
          <p:nvPr/>
        </p:nvPicPr>
        <p:blipFill>
          <a:blip r:embed="rId3">
            <a:alphaModFix/>
          </a:blip>
          <a:stretch>
            <a:fillRect/>
          </a:stretch>
        </p:blipFill>
        <p:spPr>
          <a:xfrm>
            <a:off x="5253889" y="1017800"/>
            <a:ext cx="3578409" cy="2556249"/>
          </a:xfrm>
          <a:prstGeom prst="rect">
            <a:avLst/>
          </a:prstGeom>
          <a:noFill/>
          <a:ln>
            <a:noFill/>
          </a:ln>
        </p:spPr>
      </p:pic>
      <p:graphicFrame>
        <p:nvGraphicFramePr>
          <p:cNvPr id="115" name="Google Shape;115;p17"/>
          <p:cNvGraphicFramePr/>
          <p:nvPr/>
        </p:nvGraphicFramePr>
        <p:xfrm>
          <a:off x="311700" y="1360150"/>
          <a:ext cx="3000000" cy="3000000"/>
        </p:xfrm>
        <a:graphic>
          <a:graphicData uri="http://schemas.openxmlformats.org/drawingml/2006/table">
            <a:tbl>
              <a:tblPr>
                <a:noFill/>
                <a:tableStyleId>{A35AC3EC-20AF-410C-8CD3-5C9876ED8A75}</a:tableStyleId>
              </a:tblPr>
              <a:tblGrid>
                <a:gridCol w="2868400"/>
                <a:gridCol w="636975"/>
                <a:gridCol w="1268825"/>
              </a:tblGrid>
              <a:tr h="615125">
                <a:tc>
                  <a:txBody>
                    <a:bodyPr/>
                    <a:lstStyle/>
                    <a:p>
                      <a:pPr indent="0" lvl="0" marL="0" rtl="0" algn="l">
                        <a:spcBef>
                          <a:spcPts val="0"/>
                        </a:spcBef>
                        <a:spcAft>
                          <a:spcPts val="0"/>
                        </a:spcAft>
                        <a:buNone/>
                      </a:pPr>
                      <a:r>
                        <a:rPr lang="en"/>
                        <a:t>Description</a:t>
                      </a:r>
                      <a:endParaRPr/>
                    </a:p>
                  </a:txBody>
                  <a:tcPr marT="91425" marB="91425" marR="91425" marL="91425"/>
                </a:tc>
                <a:tc>
                  <a:txBody>
                    <a:bodyPr/>
                    <a:lstStyle/>
                    <a:p>
                      <a:pPr indent="0" lvl="0" marL="0" rtl="0" algn="l">
                        <a:spcBef>
                          <a:spcPts val="0"/>
                        </a:spcBef>
                        <a:spcAft>
                          <a:spcPts val="0"/>
                        </a:spcAft>
                        <a:buNone/>
                      </a:pPr>
                      <a:r>
                        <a:rPr lang="en"/>
                        <a:t>Date</a:t>
                      </a:r>
                      <a:endParaRPr/>
                    </a:p>
                  </a:txBody>
                  <a:tcPr marT="91425" marB="91425" marR="91425" marL="91425"/>
                </a:tc>
                <a:tc>
                  <a:txBody>
                    <a:bodyPr/>
                    <a:lstStyle/>
                    <a:p>
                      <a:pPr indent="0" lvl="0" marL="0" rtl="0" algn="l">
                        <a:spcBef>
                          <a:spcPts val="0"/>
                        </a:spcBef>
                        <a:spcAft>
                          <a:spcPts val="0"/>
                        </a:spcAft>
                        <a:buNone/>
                      </a:pPr>
                      <a:r>
                        <a:rPr lang="en"/>
                        <a:t>Completed on Time</a:t>
                      </a:r>
                      <a:endParaRPr/>
                    </a:p>
                  </a:txBody>
                  <a:tcPr marT="91425" marB="91425" marR="91425" marL="91425"/>
                </a:tc>
              </a:tr>
              <a:tr h="404150">
                <a:tc>
                  <a:txBody>
                    <a:bodyPr/>
                    <a:lstStyle/>
                    <a:p>
                      <a:pPr indent="0" lvl="0" marL="0" rtl="0" algn="l">
                        <a:spcBef>
                          <a:spcPts val="0"/>
                        </a:spcBef>
                        <a:spcAft>
                          <a:spcPts val="0"/>
                        </a:spcAft>
                        <a:buNone/>
                      </a:pPr>
                      <a:r>
                        <a:rPr lang="en"/>
                        <a:t>Download</a:t>
                      </a:r>
                      <a:endParaRPr/>
                    </a:p>
                  </a:txBody>
                  <a:tcPr marT="91425" marB="91425" marR="91425" marL="91425"/>
                </a:tc>
                <a:tc>
                  <a:txBody>
                    <a:bodyPr/>
                    <a:lstStyle/>
                    <a:p>
                      <a:pPr indent="0" lvl="0" marL="0" rtl="0" algn="l">
                        <a:spcBef>
                          <a:spcPts val="0"/>
                        </a:spcBef>
                        <a:spcAft>
                          <a:spcPts val="0"/>
                        </a:spcAft>
                        <a:buNone/>
                      </a:pPr>
                      <a:r>
                        <a:rPr lang="en"/>
                        <a:t>4/4</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r>
              <a:tr h="404150">
                <a:tc>
                  <a:txBody>
                    <a:bodyPr/>
                    <a:lstStyle/>
                    <a:p>
                      <a:pPr indent="0" lvl="0" marL="0" rtl="0" algn="l">
                        <a:spcBef>
                          <a:spcPts val="0"/>
                        </a:spcBef>
                        <a:spcAft>
                          <a:spcPts val="0"/>
                        </a:spcAft>
                        <a:buNone/>
                      </a:pPr>
                      <a:r>
                        <a:rPr lang="en"/>
                        <a:t>Perform Feature Engineering</a:t>
                      </a:r>
                      <a:endParaRPr/>
                    </a:p>
                  </a:txBody>
                  <a:tcPr marT="91425" marB="91425" marR="91425" marL="91425"/>
                </a:tc>
                <a:tc>
                  <a:txBody>
                    <a:bodyPr/>
                    <a:lstStyle/>
                    <a:p>
                      <a:pPr indent="0" lvl="0" marL="0" rtl="0" algn="l">
                        <a:spcBef>
                          <a:spcPts val="0"/>
                        </a:spcBef>
                        <a:spcAft>
                          <a:spcPts val="0"/>
                        </a:spcAft>
                        <a:buNone/>
                      </a:pPr>
                      <a:r>
                        <a:rPr lang="en"/>
                        <a:t>4/7</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r>
              <a:tr h="404150">
                <a:tc>
                  <a:txBody>
                    <a:bodyPr/>
                    <a:lstStyle/>
                    <a:p>
                      <a:pPr indent="0" lvl="0" marL="0" rtl="0" algn="l">
                        <a:spcBef>
                          <a:spcPts val="0"/>
                        </a:spcBef>
                        <a:spcAft>
                          <a:spcPts val="0"/>
                        </a:spcAft>
                        <a:buNone/>
                      </a:pPr>
                      <a:r>
                        <a:rPr lang="en"/>
                        <a:t>Test and Submit our Initial Models</a:t>
                      </a:r>
                      <a:endParaRPr/>
                    </a:p>
                  </a:txBody>
                  <a:tcPr marT="91425" marB="91425" marR="91425" marL="91425"/>
                </a:tc>
                <a:tc>
                  <a:txBody>
                    <a:bodyPr/>
                    <a:lstStyle/>
                    <a:p>
                      <a:pPr indent="0" lvl="0" marL="0" rtl="0" algn="l">
                        <a:spcBef>
                          <a:spcPts val="0"/>
                        </a:spcBef>
                        <a:spcAft>
                          <a:spcPts val="0"/>
                        </a:spcAft>
                        <a:buNone/>
                      </a:pPr>
                      <a:r>
                        <a:rPr lang="en"/>
                        <a:t>4/11</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r>
              <a:tr h="404150">
                <a:tc>
                  <a:txBody>
                    <a:bodyPr/>
                    <a:lstStyle/>
                    <a:p>
                      <a:pPr indent="0" lvl="0" marL="0" rtl="0" algn="l">
                        <a:spcBef>
                          <a:spcPts val="0"/>
                        </a:spcBef>
                        <a:spcAft>
                          <a:spcPts val="0"/>
                        </a:spcAft>
                        <a:buNone/>
                      </a:pPr>
                      <a:r>
                        <a:rPr lang="en"/>
                        <a:t>Progress Report</a:t>
                      </a:r>
                      <a:endParaRPr/>
                    </a:p>
                  </a:txBody>
                  <a:tcPr marT="91425" marB="91425" marR="91425" marL="91425"/>
                </a:tc>
                <a:tc>
                  <a:txBody>
                    <a:bodyPr/>
                    <a:lstStyle/>
                    <a:p>
                      <a:pPr indent="0" lvl="0" marL="0" rtl="0" algn="l">
                        <a:spcBef>
                          <a:spcPts val="0"/>
                        </a:spcBef>
                        <a:spcAft>
                          <a:spcPts val="0"/>
                        </a:spcAft>
                        <a:buNone/>
                      </a:pPr>
                      <a:r>
                        <a:rPr lang="en"/>
                        <a:t>4/22</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r>
              <a:tr h="404150">
                <a:tc>
                  <a:txBody>
                    <a:bodyPr/>
                    <a:lstStyle/>
                    <a:p>
                      <a:pPr indent="0" lvl="0" marL="0" rtl="0" algn="l">
                        <a:spcBef>
                          <a:spcPts val="0"/>
                        </a:spcBef>
                        <a:spcAft>
                          <a:spcPts val="0"/>
                        </a:spcAft>
                        <a:buNone/>
                      </a:pPr>
                      <a:r>
                        <a:rPr lang="en"/>
                        <a:t>Adjust</a:t>
                      </a:r>
                      <a:endParaRPr/>
                    </a:p>
                  </a:txBody>
                  <a:tcPr marT="91425" marB="91425" marR="91425" marL="91425"/>
                </a:tc>
                <a:tc>
                  <a:txBody>
                    <a:bodyPr/>
                    <a:lstStyle/>
                    <a:p>
                      <a:pPr indent="0" lvl="0" marL="0" rtl="0" algn="l">
                        <a:spcBef>
                          <a:spcPts val="0"/>
                        </a:spcBef>
                        <a:spcAft>
                          <a:spcPts val="0"/>
                        </a:spcAft>
                        <a:buNone/>
                      </a:pPr>
                      <a:r>
                        <a:rPr lang="en"/>
                        <a:t>4/25</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r>
              <a:tr h="404150">
                <a:tc>
                  <a:txBody>
                    <a:bodyPr/>
                    <a:lstStyle/>
                    <a:p>
                      <a:pPr indent="0" lvl="0" marL="0" rtl="0" algn="l">
                        <a:spcBef>
                          <a:spcPts val="0"/>
                        </a:spcBef>
                        <a:spcAft>
                          <a:spcPts val="0"/>
                        </a:spcAft>
                        <a:buNone/>
                      </a:pPr>
                      <a:r>
                        <a:rPr lang="en"/>
                        <a:t>Final Submission</a:t>
                      </a:r>
                      <a:endParaRPr/>
                    </a:p>
                  </a:txBody>
                  <a:tcPr marT="91425" marB="91425" marR="91425" marL="91425"/>
                </a:tc>
                <a:tc>
                  <a:txBody>
                    <a:bodyPr/>
                    <a:lstStyle/>
                    <a:p>
                      <a:pPr indent="0" lvl="0" marL="0" rtl="0" algn="l">
                        <a:spcBef>
                          <a:spcPts val="0"/>
                        </a:spcBef>
                        <a:spcAft>
                          <a:spcPts val="0"/>
                        </a:spcAft>
                        <a:buNone/>
                      </a:pPr>
                      <a:r>
                        <a:rPr lang="en"/>
                        <a:t>4/27</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8"/>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Data, Data, Data</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9"/>
          <p:cNvSpPr/>
          <p:nvPr/>
        </p:nvSpPr>
        <p:spPr>
          <a:xfrm>
            <a:off x="0" y="0"/>
            <a:ext cx="8853600" cy="5044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Roboto"/>
              <a:ea typeface="Roboto"/>
              <a:cs typeface="Roboto"/>
              <a:sym typeface="Roboto"/>
            </a:endParaRPr>
          </a:p>
        </p:txBody>
      </p:sp>
      <p:pic>
        <p:nvPicPr>
          <p:cNvPr id="126" name="Google Shape;126;p19"/>
          <p:cNvPicPr preferRelativeResize="0"/>
          <p:nvPr/>
        </p:nvPicPr>
        <p:blipFill>
          <a:blip r:embed="rId3">
            <a:alphaModFix/>
          </a:blip>
          <a:stretch>
            <a:fillRect/>
          </a:stretch>
        </p:blipFill>
        <p:spPr>
          <a:xfrm>
            <a:off x="47850" y="103050"/>
            <a:ext cx="8757895" cy="4838699"/>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a:t>
            </a:r>
            <a:r>
              <a:rPr lang="en"/>
              <a:t>Investigation</a:t>
            </a:r>
            <a:endParaRPr/>
          </a:p>
        </p:txBody>
      </p:sp>
      <p:pic>
        <p:nvPicPr>
          <p:cNvPr id="132" name="Google Shape;132;p20"/>
          <p:cNvPicPr preferRelativeResize="0"/>
          <p:nvPr/>
        </p:nvPicPr>
        <p:blipFill>
          <a:blip r:embed="rId3">
            <a:alphaModFix/>
          </a:blip>
          <a:stretch>
            <a:fillRect/>
          </a:stretch>
        </p:blipFill>
        <p:spPr>
          <a:xfrm>
            <a:off x="503550" y="1311025"/>
            <a:ext cx="5466700" cy="32612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II</a:t>
            </a:r>
            <a:endParaRPr/>
          </a:p>
        </p:txBody>
      </p:sp>
      <p:sp>
        <p:nvSpPr>
          <p:cNvPr id="138" name="Google Shape;138;p21"/>
          <p:cNvSpPr txBox="1"/>
          <p:nvPr/>
        </p:nvSpPr>
        <p:spPr>
          <a:xfrm>
            <a:off x="6098150" y="1421675"/>
            <a:ext cx="2461800" cy="170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Better to be a woman than a man in this case</a:t>
            </a:r>
            <a:endParaRPr sz="1800">
              <a:solidFill>
                <a:schemeClr val="dk2"/>
              </a:solidFill>
              <a:latin typeface="Roboto"/>
              <a:ea typeface="Roboto"/>
              <a:cs typeface="Roboto"/>
              <a:sym typeface="Roboto"/>
            </a:endParaRPr>
          </a:p>
        </p:txBody>
      </p:sp>
      <p:pic>
        <p:nvPicPr>
          <p:cNvPr id="139" name="Google Shape;139;p21"/>
          <p:cNvPicPr preferRelativeResize="0"/>
          <p:nvPr/>
        </p:nvPicPr>
        <p:blipFill>
          <a:blip r:embed="rId3">
            <a:alphaModFix/>
          </a:blip>
          <a:stretch>
            <a:fillRect/>
          </a:stretch>
        </p:blipFill>
        <p:spPr>
          <a:xfrm>
            <a:off x="311700" y="1017800"/>
            <a:ext cx="5121632" cy="38209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2"/>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III</a:t>
            </a:r>
            <a:endParaRPr/>
          </a:p>
        </p:txBody>
      </p:sp>
      <p:sp>
        <p:nvSpPr>
          <p:cNvPr id="145" name="Google Shape;145;p22"/>
          <p:cNvSpPr txBox="1"/>
          <p:nvPr/>
        </p:nvSpPr>
        <p:spPr>
          <a:xfrm>
            <a:off x="6428500" y="1517600"/>
            <a:ext cx="2312700" cy="160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Richer Passengers were more likely to survive</a:t>
            </a:r>
            <a:endParaRPr sz="1800">
              <a:solidFill>
                <a:schemeClr val="dk2"/>
              </a:solidFill>
              <a:latin typeface="Roboto"/>
              <a:ea typeface="Roboto"/>
              <a:cs typeface="Roboto"/>
              <a:sym typeface="Roboto"/>
            </a:endParaRPr>
          </a:p>
        </p:txBody>
      </p:sp>
      <p:pic>
        <p:nvPicPr>
          <p:cNvPr id="146" name="Google Shape;146;p22"/>
          <p:cNvPicPr preferRelativeResize="0"/>
          <p:nvPr/>
        </p:nvPicPr>
        <p:blipFill>
          <a:blip r:embed="rId3">
            <a:alphaModFix/>
          </a:blip>
          <a:stretch>
            <a:fillRect/>
          </a:stretch>
        </p:blipFill>
        <p:spPr>
          <a:xfrm>
            <a:off x="311700" y="1017800"/>
            <a:ext cx="5619750" cy="37147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IV</a:t>
            </a:r>
            <a:endParaRPr/>
          </a:p>
        </p:txBody>
      </p:sp>
      <p:sp>
        <p:nvSpPr>
          <p:cNvPr id="152" name="Google Shape;152;p23"/>
          <p:cNvSpPr txBox="1"/>
          <p:nvPr>
            <p:ph idx="1" type="body"/>
          </p:nvPr>
        </p:nvSpPr>
        <p:spPr>
          <a:xfrm>
            <a:off x="5769975" y="1229875"/>
            <a:ext cx="3062400" cy="2530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Not that large of difference between married and unmarried women.</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None of the Rev. made it</a:t>
            </a:r>
            <a:endParaRPr/>
          </a:p>
        </p:txBody>
      </p:sp>
      <p:pic>
        <p:nvPicPr>
          <p:cNvPr id="153" name="Google Shape;153;p23"/>
          <p:cNvPicPr preferRelativeResize="0"/>
          <p:nvPr/>
        </p:nvPicPr>
        <p:blipFill>
          <a:blip r:embed="rId3">
            <a:alphaModFix/>
          </a:blip>
          <a:stretch>
            <a:fillRect/>
          </a:stretch>
        </p:blipFill>
        <p:spPr>
          <a:xfrm>
            <a:off x="311700" y="1017800"/>
            <a:ext cx="5116121" cy="38209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4"/>
          <p:cNvSpPr txBox="1"/>
          <p:nvPr>
            <p:ph type="title"/>
          </p:nvPr>
        </p:nvSpPr>
        <p:spPr>
          <a:xfrm>
            <a:off x="265500" y="1151100"/>
            <a:ext cx="4045200" cy="15645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Technical Approach</a:t>
            </a:r>
            <a:endParaRPr/>
          </a:p>
        </p:txBody>
      </p:sp>
      <p:sp>
        <p:nvSpPr>
          <p:cNvPr id="159" name="Google Shape;159;p24"/>
          <p:cNvSpPr txBox="1"/>
          <p:nvPr>
            <p:ph idx="1" type="subTitle"/>
          </p:nvPr>
        </p:nvSpPr>
        <p:spPr>
          <a:xfrm>
            <a:off x="265500" y="2769001"/>
            <a:ext cx="4045200" cy="1269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1800">
                <a:solidFill>
                  <a:schemeClr val="accent1"/>
                </a:solidFill>
              </a:rPr>
              <a:t>We took a very Experimental Approach</a:t>
            </a:r>
            <a:endParaRPr>
              <a:solidFill>
                <a:schemeClr val="accent1"/>
              </a:solidFill>
            </a:endParaRPr>
          </a:p>
        </p:txBody>
      </p:sp>
      <p:pic>
        <p:nvPicPr>
          <p:cNvPr descr="Restren:Darts in a dartboard.jpg - Wikipedia" id="160" name="Google Shape;160;p24"/>
          <p:cNvPicPr preferRelativeResize="0"/>
          <p:nvPr/>
        </p:nvPicPr>
        <p:blipFill>
          <a:blip r:embed="rId3">
            <a:alphaModFix/>
          </a:blip>
          <a:stretch>
            <a:fillRect/>
          </a:stretch>
        </p:blipFill>
        <p:spPr>
          <a:xfrm>
            <a:off x="4708300" y="1089200"/>
            <a:ext cx="4299402" cy="28571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Feature Engineering</a:t>
            </a:r>
            <a:endParaRPr/>
          </a:p>
        </p:txBody>
      </p:sp>
      <p:pic>
        <p:nvPicPr>
          <p:cNvPr id="166" name="Google Shape;166;p25"/>
          <p:cNvPicPr preferRelativeResize="0"/>
          <p:nvPr/>
        </p:nvPicPr>
        <p:blipFill>
          <a:blip r:embed="rId3">
            <a:alphaModFix/>
          </a:blip>
          <a:stretch>
            <a:fillRect/>
          </a:stretch>
        </p:blipFill>
        <p:spPr>
          <a:xfrm>
            <a:off x="311700" y="1099175"/>
            <a:ext cx="3694274" cy="3621149"/>
          </a:xfrm>
          <a:prstGeom prst="rect">
            <a:avLst/>
          </a:prstGeom>
          <a:noFill/>
          <a:ln>
            <a:noFill/>
          </a:ln>
        </p:spPr>
      </p:pic>
      <p:sp>
        <p:nvSpPr>
          <p:cNvPr id="167" name="Google Shape;167;p25"/>
          <p:cNvSpPr txBox="1"/>
          <p:nvPr/>
        </p:nvSpPr>
        <p:spPr>
          <a:xfrm>
            <a:off x="4730300" y="1212250"/>
            <a:ext cx="3926400" cy="23943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Did they have a wife/husband</a:t>
            </a:r>
            <a:endParaRPr sz="1800">
              <a:solidFill>
                <a:schemeClr val="dk2"/>
              </a:solidFill>
              <a:latin typeface="Roboto"/>
              <a:ea typeface="Roboto"/>
              <a:cs typeface="Roboto"/>
              <a:sym typeface="Roboto"/>
            </a:endParaRPr>
          </a:p>
          <a:p>
            <a:pPr indent="-342900" lvl="0" marL="457200" rtl="0" algn="l">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How many people were in the cabin</a:t>
            </a:r>
            <a:endParaRPr sz="1800">
              <a:solidFill>
                <a:schemeClr val="dk2"/>
              </a:solidFill>
              <a:latin typeface="Roboto"/>
              <a:ea typeface="Roboto"/>
              <a:cs typeface="Roboto"/>
              <a:sym typeface="Roboto"/>
            </a:endParaRPr>
          </a:p>
          <a:p>
            <a:pPr indent="-342900" lvl="0" marL="457200" rtl="0" algn="l">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Classifying people based on titles</a:t>
            </a:r>
            <a:endParaRPr sz="1800">
              <a:solidFill>
                <a:schemeClr val="dk2"/>
              </a:solidFill>
              <a:latin typeface="Roboto"/>
              <a:ea typeface="Roboto"/>
              <a:cs typeface="Roboto"/>
              <a:sym typeface="Roboto"/>
            </a:endParaRPr>
          </a:p>
          <a:p>
            <a:pPr indent="-342900" lvl="0" marL="457200" rtl="0" algn="l">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Standardizing the ticket format</a:t>
            </a:r>
            <a:endParaRPr sz="1800">
              <a:solidFill>
                <a:schemeClr val="dk2"/>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6"/>
          <p:cNvSpPr/>
          <p:nvPr/>
        </p:nvSpPr>
        <p:spPr>
          <a:xfrm>
            <a:off x="2808825" y="1081750"/>
            <a:ext cx="6264600" cy="2747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73" name="Google Shape;173;p2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Normalization &amp; </a:t>
            </a:r>
            <a:r>
              <a:rPr lang="en"/>
              <a:t>Standardization</a:t>
            </a:r>
            <a:endParaRPr/>
          </a:p>
        </p:txBody>
      </p:sp>
      <p:sp>
        <p:nvSpPr>
          <p:cNvPr id="174" name="Google Shape;174;p26"/>
          <p:cNvSpPr txBox="1"/>
          <p:nvPr>
            <p:ph idx="1" type="body"/>
          </p:nvPr>
        </p:nvSpPr>
        <p:spPr>
          <a:xfrm>
            <a:off x="311700" y="1229875"/>
            <a:ext cx="23688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We went through the list of features and found a list of them we wanted to normalize</a:t>
            </a:r>
            <a:endParaRPr/>
          </a:p>
        </p:txBody>
      </p:sp>
      <p:pic>
        <p:nvPicPr>
          <p:cNvPr id="175" name="Google Shape;175;p26"/>
          <p:cNvPicPr preferRelativeResize="0"/>
          <p:nvPr/>
        </p:nvPicPr>
        <p:blipFill>
          <a:blip r:embed="rId3">
            <a:alphaModFix/>
          </a:blip>
          <a:stretch>
            <a:fillRect/>
          </a:stretch>
        </p:blipFill>
        <p:spPr>
          <a:xfrm>
            <a:off x="2928600" y="1153298"/>
            <a:ext cx="6078451" cy="26154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7"/>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Results!!!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8"/>
          <p:cNvSpPr txBox="1"/>
          <p:nvPr>
            <p:ph type="title"/>
          </p:nvPr>
        </p:nvSpPr>
        <p:spPr>
          <a:xfrm>
            <a:off x="2475100" y="399350"/>
            <a:ext cx="20352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a:t>
            </a:r>
            <a:endParaRPr/>
          </a:p>
        </p:txBody>
      </p:sp>
      <p:graphicFrame>
        <p:nvGraphicFramePr>
          <p:cNvPr id="186" name="Google Shape;186;p28"/>
          <p:cNvGraphicFramePr/>
          <p:nvPr/>
        </p:nvGraphicFramePr>
        <p:xfrm>
          <a:off x="526200" y="1152975"/>
          <a:ext cx="3000000" cy="3000000"/>
        </p:xfrm>
        <a:graphic>
          <a:graphicData uri="http://schemas.openxmlformats.org/drawingml/2006/table">
            <a:tbl>
              <a:tblPr>
                <a:noFill/>
                <a:tableStyleId>{A35AC3EC-20AF-410C-8CD3-5C9876ED8A75}</a:tableStyleId>
              </a:tblPr>
              <a:tblGrid>
                <a:gridCol w="1543375"/>
                <a:gridCol w="3416250"/>
                <a:gridCol w="794275"/>
              </a:tblGrid>
              <a:tr h="351725">
                <a:tc>
                  <a:txBody>
                    <a:bodyPr/>
                    <a:lstStyle/>
                    <a:p>
                      <a:pPr indent="0" lvl="0" marL="0" rtl="0" algn="l">
                        <a:spcBef>
                          <a:spcPts val="0"/>
                        </a:spcBef>
                        <a:spcAft>
                          <a:spcPts val="0"/>
                        </a:spcAft>
                        <a:buNone/>
                      </a:pPr>
                      <a:r>
                        <a:rPr lang="en"/>
                        <a:t>Name</a:t>
                      </a:r>
                      <a:endParaRPr/>
                    </a:p>
                  </a:txBody>
                  <a:tcPr marT="91425" marB="91425" marR="91425" marL="91425"/>
                </a:tc>
                <a:tc>
                  <a:txBody>
                    <a:bodyPr/>
                    <a:lstStyle/>
                    <a:p>
                      <a:pPr indent="0" lvl="0" marL="0" rtl="0" algn="l">
                        <a:spcBef>
                          <a:spcPts val="0"/>
                        </a:spcBef>
                        <a:spcAft>
                          <a:spcPts val="0"/>
                        </a:spcAft>
                        <a:buNone/>
                      </a:pPr>
                      <a:r>
                        <a:rPr lang="en"/>
                        <a:t>Parameters</a:t>
                      </a:r>
                      <a:endParaRPr/>
                    </a:p>
                  </a:txBody>
                  <a:tcPr marT="91425" marB="91425" marR="91425" marL="91425"/>
                </a:tc>
                <a:tc>
                  <a:txBody>
                    <a:bodyPr/>
                    <a:lstStyle/>
                    <a:p>
                      <a:pPr indent="0" lvl="0" marL="0" rtl="0" algn="l">
                        <a:spcBef>
                          <a:spcPts val="0"/>
                        </a:spcBef>
                        <a:spcAft>
                          <a:spcPts val="0"/>
                        </a:spcAft>
                        <a:buNone/>
                      </a:pPr>
                      <a:r>
                        <a:rPr lang="en"/>
                        <a:t>Results</a:t>
                      </a:r>
                      <a:endParaRPr/>
                    </a:p>
                  </a:txBody>
                  <a:tcPr marT="91425" marB="91425" marR="91425" marL="91425"/>
                </a:tc>
              </a:tr>
              <a:tr h="351725">
                <a:tc>
                  <a:txBody>
                    <a:bodyPr/>
                    <a:lstStyle/>
                    <a:p>
                      <a:pPr indent="0" lvl="0" marL="0" rtl="0" algn="l">
                        <a:spcBef>
                          <a:spcPts val="0"/>
                        </a:spcBef>
                        <a:spcAft>
                          <a:spcPts val="0"/>
                        </a:spcAft>
                        <a:buNone/>
                      </a:pPr>
                      <a:r>
                        <a:rPr lang="en"/>
                        <a:t>Random Forest</a:t>
                      </a:r>
                      <a:endParaRPr/>
                    </a:p>
                  </a:txBody>
                  <a:tcPr marT="91425" marB="91425" marR="91425" marL="91425"/>
                </a:tc>
                <a:tc>
                  <a:txBody>
                    <a:bodyPr/>
                    <a:lstStyle/>
                    <a:p>
                      <a:pPr indent="0" lvl="0" marL="0" rtl="0" algn="l">
                        <a:spcBef>
                          <a:spcPts val="0"/>
                        </a:spcBef>
                        <a:spcAft>
                          <a:spcPts val="0"/>
                        </a:spcAft>
                        <a:buNone/>
                      </a:pPr>
                      <a:r>
                        <a:rPr lang="en"/>
                        <a:t>Entropy, Max Depth 10, 150 Estimators</a:t>
                      </a:r>
                      <a:endParaRPr/>
                    </a:p>
                  </a:txBody>
                  <a:tcPr marT="91425" marB="91425" marR="91425" marL="91425"/>
                </a:tc>
                <a:tc>
                  <a:txBody>
                    <a:bodyPr/>
                    <a:lstStyle/>
                    <a:p>
                      <a:pPr indent="0" lvl="0" marL="0" rtl="0" algn="l">
                        <a:spcBef>
                          <a:spcPts val="0"/>
                        </a:spcBef>
                        <a:spcAft>
                          <a:spcPts val="0"/>
                        </a:spcAft>
                        <a:buNone/>
                      </a:pPr>
                      <a:r>
                        <a:rPr lang="en"/>
                        <a:t>77%</a:t>
                      </a:r>
                      <a:endParaRPr/>
                    </a:p>
                  </a:txBody>
                  <a:tcPr marT="91425" marB="91425" marR="91425" marL="91425"/>
                </a:tc>
              </a:tr>
              <a:tr h="351725">
                <a:tc>
                  <a:txBody>
                    <a:bodyPr/>
                    <a:lstStyle/>
                    <a:p>
                      <a:pPr indent="0" lvl="0" marL="0" rtl="0" algn="l">
                        <a:spcBef>
                          <a:spcPts val="0"/>
                        </a:spcBef>
                        <a:spcAft>
                          <a:spcPts val="0"/>
                        </a:spcAft>
                        <a:buNone/>
                      </a:pPr>
                      <a:r>
                        <a:rPr lang="en"/>
                        <a:t>Decision Tree</a:t>
                      </a:r>
                      <a:endParaRPr/>
                    </a:p>
                  </a:txBody>
                  <a:tcPr marT="91425" marB="91425" marR="91425" marL="91425"/>
                </a:tc>
                <a:tc>
                  <a:txBody>
                    <a:bodyPr/>
                    <a:lstStyle/>
                    <a:p>
                      <a:pPr indent="0" lvl="0" marL="0" rtl="0" algn="l">
                        <a:spcBef>
                          <a:spcPts val="0"/>
                        </a:spcBef>
                        <a:spcAft>
                          <a:spcPts val="0"/>
                        </a:spcAft>
                        <a:buNone/>
                      </a:pPr>
                      <a:r>
                        <a:rPr lang="en"/>
                        <a:t>Entropy, Max Depth 10, 150 Estimators</a:t>
                      </a:r>
                      <a:endParaRPr/>
                    </a:p>
                  </a:txBody>
                  <a:tcPr marT="91425" marB="91425" marR="91425" marL="91425"/>
                </a:tc>
                <a:tc>
                  <a:txBody>
                    <a:bodyPr/>
                    <a:lstStyle/>
                    <a:p>
                      <a:pPr indent="0" lvl="0" marL="0" rtl="0" algn="l">
                        <a:spcBef>
                          <a:spcPts val="0"/>
                        </a:spcBef>
                        <a:spcAft>
                          <a:spcPts val="0"/>
                        </a:spcAft>
                        <a:buNone/>
                      </a:pPr>
                      <a:r>
                        <a:rPr lang="en"/>
                        <a:t>77%</a:t>
                      </a:r>
                      <a:endParaRPr/>
                    </a:p>
                  </a:txBody>
                  <a:tcPr marT="91425" marB="91425" marR="91425" marL="91425"/>
                </a:tc>
              </a:tr>
              <a:tr h="351725">
                <a:tc>
                  <a:txBody>
                    <a:bodyPr/>
                    <a:lstStyle/>
                    <a:p>
                      <a:pPr indent="0" lvl="0" marL="0" rtl="0" algn="l">
                        <a:spcBef>
                          <a:spcPts val="0"/>
                        </a:spcBef>
                        <a:spcAft>
                          <a:spcPts val="0"/>
                        </a:spcAft>
                        <a:buNone/>
                      </a:pPr>
                      <a:r>
                        <a:rPr lang="en"/>
                        <a:t>KNN</a:t>
                      </a:r>
                      <a:endParaRPr/>
                    </a:p>
                  </a:txBody>
                  <a:tcPr marT="91425" marB="91425" marR="91425" marL="91425"/>
                </a:tc>
                <a:tc>
                  <a:txBody>
                    <a:bodyPr/>
                    <a:lstStyle/>
                    <a:p>
                      <a:pPr indent="0" lvl="0" marL="0" rtl="0" algn="l">
                        <a:spcBef>
                          <a:spcPts val="0"/>
                        </a:spcBef>
                        <a:spcAft>
                          <a:spcPts val="0"/>
                        </a:spcAft>
                        <a:buNone/>
                      </a:pPr>
                      <a:r>
                        <a:rPr lang="en"/>
                        <a:t>P1, uniform</a:t>
                      </a:r>
                      <a:endParaRPr/>
                    </a:p>
                  </a:txBody>
                  <a:tcPr marT="91425" marB="91425" marR="91425" marL="91425"/>
                </a:tc>
                <a:tc>
                  <a:txBody>
                    <a:bodyPr/>
                    <a:lstStyle/>
                    <a:p>
                      <a:pPr indent="0" lvl="0" marL="0" rtl="0" algn="l">
                        <a:spcBef>
                          <a:spcPts val="0"/>
                        </a:spcBef>
                        <a:spcAft>
                          <a:spcPts val="0"/>
                        </a:spcAft>
                        <a:buNone/>
                      </a:pPr>
                      <a:r>
                        <a:rPr lang="en"/>
                        <a:t>77%</a:t>
                      </a:r>
                      <a:endParaRPr/>
                    </a:p>
                  </a:txBody>
                  <a:tcPr marT="91425" marB="91425" marR="91425" marL="91425"/>
                </a:tc>
              </a:tr>
              <a:tr h="541100">
                <a:tc>
                  <a:txBody>
                    <a:bodyPr/>
                    <a:lstStyle/>
                    <a:p>
                      <a:pPr indent="0" lvl="0" marL="0" rtl="0" algn="l">
                        <a:spcBef>
                          <a:spcPts val="0"/>
                        </a:spcBef>
                        <a:spcAft>
                          <a:spcPts val="0"/>
                        </a:spcAft>
                        <a:buNone/>
                      </a:pPr>
                      <a:r>
                        <a:rPr lang="en"/>
                        <a:t>Support Vector Classifier</a:t>
                      </a:r>
                      <a:endParaRPr/>
                    </a:p>
                  </a:txBody>
                  <a:tcPr marT="91425" marB="91425" marR="91425" marL="91425"/>
                </a:tc>
                <a:tc>
                  <a:txBody>
                    <a:bodyPr/>
                    <a:lstStyle/>
                    <a:p>
                      <a:pPr indent="0" lvl="0" marL="0" rtl="0" algn="l">
                        <a:spcBef>
                          <a:spcPts val="0"/>
                        </a:spcBef>
                        <a:spcAft>
                          <a:spcPts val="0"/>
                        </a:spcAft>
                        <a:buNone/>
                      </a:pPr>
                      <a:r>
                        <a:rPr lang="en"/>
                        <a:t>C = 10, rbf</a:t>
                      </a:r>
                      <a:endParaRPr/>
                    </a:p>
                  </a:txBody>
                  <a:tcPr marT="91425" marB="91425" marR="91425" marL="91425"/>
                </a:tc>
                <a:tc>
                  <a:txBody>
                    <a:bodyPr/>
                    <a:lstStyle/>
                    <a:p>
                      <a:pPr indent="0" lvl="0" marL="0" rtl="0" algn="l">
                        <a:spcBef>
                          <a:spcPts val="0"/>
                        </a:spcBef>
                        <a:spcAft>
                          <a:spcPts val="0"/>
                        </a:spcAft>
                        <a:buNone/>
                      </a:pPr>
                      <a:r>
                        <a:rPr lang="en"/>
                        <a:t>77.8%</a:t>
                      </a:r>
                      <a:endParaRPr/>
                    </a:p>
                  </a:txBody>
                  <a:tcPr marT="91425" marB="91425" marR="91425" marL="91425"/>
                </a:tc>
              </a:tr>
              <a:tr h="351725">
                <a:tc>
                  <a:txBody>
                    <a:bodyPr/>
                    <a:lstStyle/>
                    <a:p>
                      <a:pPr indent="0" lvl="0" marL="0" rtl="0" algn="l">
                        <a:spcBef>
                          <a:spcPts val="0"/>
                        </a:spcBef>
                        <a:spcAft>
                          <a:spcPts val="0"/>
                        </a:spcAft>
                        <a:buNone/>
                      </a:pPr>
                      <a:r>
                        <a:rPr lang="en"/>
                        <a:t>Logistic</a:t>
                      </a:r>
                      <a:endParaRPr/>
                    </a:p>
                  </a:txBody>
                  <a:tcPr marT="91425" marB="91425" marR="91425" marL="91425"/>
                </a:tc>
                <a:tc>
                  <a:txBody>
                    <a:bodyPr/>
                    <a:lstStyle/>
                    <a:p>
                      <a:pPr indent="0" lvl="0" marL="0" rtl="0" algn="l">
                        <a:spcBef>
                          <a:spcPts val="0"/>
                        </a:spcBef>
                        <a:spcAft>
                          <a:spcPts val="0"/>
                        </a:spcAft>
                        <a:buNone/>
                      </a:pPr>
                      <a:r>
                        <a:rPr lang="en"/>
                        <a:t>C = 0.1</a:t>
                      </a:r>
                      <a:endParaRPr/>
                    </a:p>
                  </a:txBody>
                  <a:tcPr marT="91425" marB="91425" marR="91425" marL="91425"/>
                </a:tc>
                <a:tc>
                  <a:txBody>
                    <a:bodyPr/>
                    <a:lstStyle/>
                    <a:p>
                      <a:pPr indent="0" lvl="0" marL="0" rtl="0" algn="l">
                        <a:spcBef>
                          <a:spcPts val="0"/>
                        </a:spcBef>
                        <a:spcAft>
                          <a:spcPts val="0"/>
                        </a:spcAft>
                        <a:buNone/>
                      </a:pPr>
                      <a:r>
                        <a:rPr lang="en"/>
                        <a:t>75.6%</a:t>
                      </a:r>
                      <a:endParaRPr/>
                    </a:p>
                  </a:txBody>
                  <a:tcPr marT="91425" marB="91425" marR="91425" marL="91425"/>
                </a:tc>
              </a:tr>
              <a:tr h="351725">
                <a:tc>
                  <a:txBody>
                    <a:bodyPr/>
                    <a:lstStyle/>
                    <a:p>
                      <a:pPr indent="0" lvl="0" marL="0" rtl="0" algn="l">
                        <a:spcBef>
                          <a:spcPts val="0"/>
                        </a:spcBef>
                        <a:spcAft>
                          <a:spcPts val="0"/>
                        </a:spcAft>
                        <a:buNone/>
                      </a:pPr>
                      <a:r>
                        <a:rPr lang="en"/>
                        <a:t>Gaussian</a:t>
                      </a:r>
                      <a:r>
                        <a:rPr lang="en"/>
                        <a:t> NB</a:t>
                      </a:r>
                      <a:endParaRPr/>
                    </a:p>
                  </a:txBody>
                  <a:tcPr marT="91425" marB="91425" marR="91425" marL="91425"/>
                </a:tc>
                <a:tc>
                  <a:txBody>
                    <a:bodyPr/>
                    <a:lstStyle/>
                    <a:p>
                      <a:pPr indent="0" lvl="0" marL="0" rtl="0" algn="l">
                        <a:spcBef>
                          <a:spcPts val="0"/>
                        </a:spcBef>
                        <a:spcAft>
                          <a:spcPts val="0"/>
                        </a:spcAft>
                        <a:buNone/>
                      </a:pPr>
                      <a:r>
                        <a:rPr lang="en"/>
                        <a:t>Variable Smoothing = 1*10^-8</a:t>
                      </a:r>
                      <a:endParaRPr/>
                    </a:p>
                  </a:txBody>
                  <a:tcPr marT="91425" marB="91425" marR="91425" marL="91425"/>
                </a:tc>
                <a:tc>
                  <a:txBody>
                    <a:bodyPr/>
                    <a:lstStyle/>
                    <a:p>
                      <a:pPr indent="0" lvl="0" marL="0" rtl="0" algn="l">
                        <a:spcBef>
                          <a:spcPts val="0"/>
                        </a:spcBef>
                        <a:spcAft>
                          <a:spcPts val="0"/>
                        </a:spcAft>
                        <a:buNone/>
                      </a:pPr>
                      <a:r>
                        <a:rPr lang="en"/>
                        <a:t>73.9%</a:t>
                      </a:r>
                      <a:endParaRPr/>
                    </a:p>
                  </a:txBody>
                  <a:tcPr marT="91425" marB="91425" marR="91425" marL="91425"/>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9"/>
          <p:cNvSpPr txBox="1"/>
          <p:nvPr>
            <p:ph type="title"/>
          </p:nvPr>
        </p:nvSpPr>
        <p:spPr>
          <a:xfrm>
            <a:off x="2957700" y="238825"/>
            <a:ext cx="42603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Key </a:t>
            </a:r>
            <a:r>
              <a:rPr lang="en"/>
              <a:t>Takeaways</a:t>
            </a:r>
            <a:endParaRPr/>
          </a:p>
        </p:txBody>
      </p:sp>
      <p:sp>
        <p:nvSpPr>
          <p:cNvPr id="192" name="Google Shape;192;p29"/>
          <p:cNvSpPr txBox="1"/>
          <p:nvPr>
            <p:ph idx="1" type="body"/>
          </p:nvPr>
        </p:nvSpPr>
        <p:spPr>
          <a:xfrm>
            <a:off x="3433575" y="1017800"/>
            <a:ext cx="4571700" cy="2718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Social Norms played a bigger factor</a:t>
            </a:r>
            <a:endParaRPr/>
          </a:p>
          <a:p>
            <a:pPr indent="-342900" lvl="0" marL="457200" rtl="0" algn="l">
              <a:spcBef>
                <a:spcPts val="0"/>
              </a:spcBef>
              <a:spcAft>
                <a:spcPts val="0"/>
              </a:spcAft>
              <a:buSzPts val="1800"/>
              <a:buChar char="●"/>
            </a:pPr>
            <a:r>
              <a:rPr lang="en"/>
              <a:t>Data pre-processing didn’t make a big impact</a:t>
            </a:r>
            <a:endParaRPr/>
          </a:p>
          <a:p>
            <a:pPr indent="-342900" lvl="0" marL="457200" rtl="0" algn="l">
              <a:spcBef>
                <a:spcPts val="0"/>
              </a:spcBef>
              <a:spcAft>
                <a:spcPts val="0"/>
              </a:spcAft>
              <a:buSzPts val="1800"/>
              <a:buChar char="●"/>
            </a:pPr>
            <a:r>
              <a:rPr lang="en"/>
              <a:t>Well planned meetings &amp; </a:t>
            </a:r>
            <a:r>
              <a:rPr lang="en"/>
              <a:t>organization</a:t>
            </a:r>
            <a:r>
              <a:rPr lang="en"/>
              <a:t> make a big difference</a:t>
            </a:r>
            <a:endParaRPr/>
          </a:p>
          <a:p>
            <a:pPr indent="-342900" lvl="0" marL="457200" rtl="0" algn="l">
              <a:spcBef>
                <a:spcPts val="0"/>
              </a:spcBef>
              <a:spcAft>
                <a:spcPts val="0"/>
              </a:spcAft>
              <a:buSzPts val="1800"/>
              <a:buChar char="●"/>
            </a:pPr>
            <a:r>
              <a:rPr lang="en"/>
              <a:t>Testing Parameters and Models make a big difference</a:t>
            </a:r>
            <a:endParaRPr/>
          </a:p>
          <a:p>
            <a:pPr indent="-342900" lvl="0" marL="457200" rtl="0" algn="l">
              <a:spcBef>
                <a:spcPts val="0"/>
              </a:spcBef>
              <a:spcAft>
                <a:spcPts val="0"/>
              </a:spcAft>
              <a:buSzPts val="1800"/>
              <a:buChar char="●"/>
            </a:pPr>
            <a:r>
              <a:rPr lang="en"/>
              <a:t>Simple Data Simple Models</a:t>
            </a:r>
            <a:endParaRPr/>
          </a:p>
        </p:txBody>
      </p:sp>
      <p:pic>
        <p:nvPicPr>
          <p:cNvPr id="193" name="Google Shape;193;p29"/>
          <p:cNvPicPr preferRelativeResize="0"/>
          <p:nvPr/>
        </p:nvPicPr>
        <p:blipFill>
          <a:blip r:embed="rId3">
            <a:alphaModFix/>
          </a:blip>
          <a:stretch>
            <a:fillRect/>
          </a:stretch>
        </p:blipFill>
        <p:spPr>
          <a:xfrm>
            <a:off x="311703" y="1017796"/>
            <a:ext cx="2646000" cy="365150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0"/>
          <p:cNvSpPr txBox="1"/>
          <p:nvPr>
            <p:ph idx="1" type="body"/>
          </p:nvPr>
        </p:nvSpPr>
        <p:spPr>
          <a:xfrm>
            <a:off x="1444650" y="1440150"/>
            <a:ext cx="6254700" cy="22632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12000"/>
              <a:t>The End!</a:t>
            </a:r>
            <a:endParaRPr sz="12000"/>
          </a:p>
        </p:txBody>
      </p:sp>
    </p:spTree>
  </p:cSld>
  <p:clrMapOvr>
    <a:masterClrMapping/>
  </p:clrMapOvr>
</p:sld>
</file>

<file path=ppt/theme/theme1.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